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jpe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jpe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638751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0" y="995782"/>
            <a:ext cx="6153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5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 UI Specification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261872"/>
            <a:ext cx="63441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5394960" y="2138782"/>
            <a:ext cx="571500" cy="576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94960" y="2424074"/>
            <a:ext cx="514807" cy="295351"/>
          </a:xfrm>
          <a:prstGeom prst="roundRect">
            <a:avLst>
              <a:gd name="adj" fmla="val 3095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66614" y="2424074"/>
            <a:ext cx="57150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59729" y="2424074"/>
            <a:ext cx="952805" cy="295351"/>
          </a:xfrm>
          <a:prstGeom prst="roundRect">
            <a:avLst>
              <a:gd name="adj" fmla="val 3095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1382" y="2424074"/>
            <a:ext cx="10104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63410" y="2424074"/>
            <a:ext cx="905256" cy="295351"/>
          </a:xfrm>
          <a:prstGeom prst="roundRect">
            <a:avLst>
              <a:gd name="adj" fmla="val 3095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5063" y="2424074"/>
            <a:ext cx="962863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정의서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5394960" y="3100730"/>
            <a:ext cx="6035040" cy="27624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32704" y="3338474"/>
            <a:ext cx="5753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 화면 목록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632704" y="3709721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04611" y="3642970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메인(랜딩) 화면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565185" y="3709721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36178" y="3642970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 / 가입 정보 확인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632704" y="4129430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04611" y="4062679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메뉴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565185" y="4129430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736178" y="4062679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업로드 페이지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632704" y="4548226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804611" y="4481474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모달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8565185" y="4548226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736178" y="4481474"/>
            <a:ext cx="1161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목록 / 검색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632704" y="4967021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04611" y="4900270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모달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565185" y="4967021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36178" y="4900270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상세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632704" y="5386730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804611" y="5319979"/>
            <a:ext cx="12993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/ 계정 관리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565185" y="5386730"/>
            <a:ext cx="57607" cy="57607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736178" y="5319979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페이지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355787" y="6353251"/>
            <a:ext cx="32305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 v1.0 · 2026-03-10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457200" y="2667305"/>
            <a:ext cx="38733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판례 요약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</a:t>
            </a:r>
            <a:endParaRPr lang="en-US" sz="36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3962095"/>
            <a:ext cx="39154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정의서</a:t>
            </a:r>
            <a:endParaRPr lang="en-US" sz="22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-27" r="-27" t="0" b="0"/>
          <a:stretch/>
        </p:blipFill>
        <p:spPr>
          <a:xfrm>
            <a:off x="457200" y="1676095"/>
            <a:ext cx="857707" cy="68580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457200" y="4762195"/>
            <a:ext cx="3838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LEGAL CASE SUMMARIZATION SYSTEM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457200" y="4990795"/>
            <a:ext cx="3838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715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305" y="990295"/>
            <a:ext cx="6124651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5546" y="1095451"/>
            <a:ext cx="1162202" cy="219456"/>
          </a:xfrm>
          <a:prstGeom prst="roundRect">
            <a:avLst>
              <a:gd name="adj" fmla="val 144928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5546" y="1095451"/>
            <a:ext cx="12198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영역 (Hero 섹션)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50296"/>
          <a:stretch/>
        </p:blipFill>
        <p:spPr>
          <a:xfrm>
            <a:off x="390449" y="1000354"/>
            <a:ext cx="6105449" cy="253380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1305" y="3696005"/>
            <a:ext cx="6124651" cy="2553005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5546" y="3800246"/>
            <a:ext cx="1466698" cy="219456"/>
          </a:xfrm>
          <a:prstGeom prst="roundRect">
            <a:avLst>
              <a:gd name="adj" fmla="val 144928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5546" y="3800246"/>
            <a:ext cx="152613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영역 (기능 소개 및 푸터)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50121"/>
          <a:stretch/>
        </p:blipFill>
        <p:spPr>
          <a:xfrm>
            <a:off x="390449" y="3705149"/>
            <a:ext cx="6105449" cy="25338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04965" y="990295"/>
            <a:ext cx="5009998" cy="2895905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04304" y="1152144"/>
            <a:ext cx="38405" cy="2478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37806" y="1152144"/>
            <a:ext cx="10204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 요소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644" b="-2644"/>
          <a:stretch/>
        </p:blipFill>
        <p:spPr>
          <a:xfrm>
            <a:off x="7004304" y="1551737"/>
            <a:ext cx="142646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95414" y="1506931"/>
            <a:ext cx="4534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Hero 섹션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195414" y="1718158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로고, 서비스명, 소개 문구, CTA 버튼 2개(업로드/목록)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644" b="-2644"/>
          <a:stretch/>
        </p:blipFill>
        <p:spPr>
          <a:xfrm>
            <a:off x="7004304" y="2009851"/>
            <a:ext cx="142646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95414" y="1965046"/>
            <a:ext cx="4534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카드 (3종)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7195414" y="2176272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간편한 업로드 · AI 자동 요약 · 빠른 검색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04304" y="2467051"/>
            <a:ext cx="133502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95414" y="2423160"/>
            <a:ext cx="4610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 (4단계)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7195414" y="2633472"/>
            <a:ext cx="4534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1.PDF 업로드 → 2.텍스트 추출 → 3.AI 요약 → 4.검색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554" b="-1554"/>
          <a:stretch/>
        </p:blipFill>
        <p:spPr>
          <a:xfrm>
            <a:off x="7004304" y="2925166"/>
            <a:ext cx="161849" cy="13350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95414" y="2880360"/>
            <a:ext cx="4610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 자문 안내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7195414" y="3091586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"본 시스템은 참고 도구" 등 법률적 한계 명시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04304" y="3383280"/>
            <a:ext cx="133502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195414" y="3338474"/>
            <a:ext cx="4610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푸터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7195414" y="3549701"/>
            <a:ext cx="4534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서비스명, Copyright, 간단한 워크플로우 텍스트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6804965" y="4034333"/>
            <a:ext cx="5009998" cy="2219249"/>
          </a:xfrm>
          <a:prstGeom prst="roundRect">
            <a:avLst>
              <a:gd name="adj" fmla="val 42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004304" y="4197096"/>
            <a:ext cx="38405" cy="2478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137806" y="4197096"/>
            <a:ext cx="15032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 및 상태</a:t>
            </a:r>
            <a:endParaRPr lang="en-US" sz="12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7004304" y="4595774"/>
            <a:ext cx="85954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195414" y="4551883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상태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7195414" y="4776826"/>
            <a:ext cx="4496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[판례 업로드] → 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/upload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[판례 목록] → 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/documents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100" b="-1100"/>
          <a:stretch/>
        </p:blipFill>
        <p:spPr>
          <a:xfrm>
            <a:off x="7004304" y="5260543"/>
            <a:ext cx="114300" cy="133502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195414" y="5215738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비로그인 상태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7195414" y="5441594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CTA 버튼 클릭 시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모달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팝업 (페이지 이동 차단)</a:t>
            </a:r>
            <a:endParaRPr lang="en-US" sz="9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004304" y="5734202"/>
            <a:ext cx="133502" cy="13350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195414" y="5689397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컨텐츠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7195414" y="5915254"/>
            <a:ext cx="46104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카드 및 작동 방식 섹션은 상호작용 없는 안내용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2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381305" y="6580937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11184941" y="6580937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6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" dirty="0"/>
          </a:p>
        </p:txBody>
      </p:sp>
      <p:sp>
        <p:nvSpPr>
          <p:cNvPr id="51" name="Text 38"/>
          <p:cNvSpPr txBox="1"/>
          <p:nvPr/>
        </p:nvSpPr>
        <p:spPr>
          <a:xfrm>
            <a:off x="990295" y="21031"/>
            <a:ext cx="2705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메인(랜딩) 화면</a:t>
            </a:r>
            <a:endParaRPr lang="en-US" sz="1800" dirty="0"/>
          </a:p>
        </p:txBody>
      </p:sp>
      <p:sp>
        <p:nvSpPr>
          <p:cNvPr id="52" name="Shape 39"/>
          <p:cNvSpPr/>
          <p:nvPr/>
        </p:nvSpPr>
        <p:spPr>
          <a:xfrm>
            <a:off x="990295" y="401422"/>
            <a:ext cx="2514600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990295" y="401422"/>
            <a:ext cx="259141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 · 접근권한: 전체 (로그인 불필요)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619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381305" y="990295"/>
            <a:ext cx="3003804" cy="516270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51957" r="0" t="0" b="0"/>
          <a:stretch/>
        </p:blipFill>
        <p:spPr>
          <a:xfrm>
            <a:off x="390449" y="1000354"/>
            <a:ext cx="2991002" cy="51435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9" b="-9"/>
          <a:stretch/>
        </p:blipFill>
        <p:spPr>
          <a:xfrm>
            <a:off x="3537814" y="990295"/>
            <a:ext cx="3003804" cy="516270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51616" r="0" t="0" b="0"/>
          <a:stretch/>
        </p:blipFill>
        <p:spPr>
          <a:xfrm>
            <a:off x="3546958" y="1000354"/>
            <a:ext cx="2991002" cy="51435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770218" y="990295"/>
            <a:ext cx="5048402" cy="1485900"/>
          </a:xfrm>
          <a:prstGeom prst="roundRect">
            <a:avLst>
              <a:gd name="adj" fmla="val 7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6951269" y="1133856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7056425" y="1133856"/>
            <a:ext cx="18553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 구성 - 일반 사용자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6994246" y="1470355"/>
            <a:ext cx="105156" cy="1234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141464" y="1426464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9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85102" y="1710842"/>
            <a:ext cx="123444" cy="1234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141464" y="1667866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/upload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85102" y="1952244"/>
            <a:ext cx="123444" cy="123444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141464" y="1908353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목록보기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/documents</a:t>
            </a:r>
            <a:endParaRPr lang="en-US" sz="9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012" b="-2012"/>
          <a:stretch/>
        </p:blipFill>
        <p:spPr>
          <a:xfrm>
            <a:off x="6979615" y="2192731"/>
            <a:ext cx="133502" cy="123444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141464" y="2148840"/>
            <a:ext cx="4686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(메인 페이지)</a:t>
            </a:r>
            <a:endParaRPr lang="en-US" sz="900" dirty="0"/>
          </a:p>
        </p:txBody>
      </p:sp>
      <p:sp>
        <p:nvSpPr>
          <p:cNvPr id="20" name="Shape 10"/>
          <p:cNvSpPr/>
          <p:nvPr/>
        </p:nvSpPr>
        <p:spPr>
          <a:xfrm>
            <a:off x="6770218" y="2589581"/>
            <a:ext cx="5048402" cy="1419149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6951269" y="2732227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056425" y="2732227"/>
            <a:ext cx="20180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메뉴 구성 - 관리자(ADMIN)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524" b="-524"/>
          <a:stretch/>
        </p:blipFill>
        <p:spPr>
          <a:xfrm>
            <a:off x="6970471" y="3069641"/>
            <a:ext cx="152705" cy="1234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141464" y="3025750"/>
            <a:ext cx="4686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사용자명 표시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(상단 헤더 영역)</a:t>
            </a:r>
            <a:endParaRPr lang="en-US" sz="9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85102" y="3310128"/>
            <a:ext cx="123444" cy="1234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141464" y="3266237"/>
            <a:ext cx="46104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페이지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7141464" y="3468319"/>
            <a:ext cx="4686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메뉴 하단에 추가 섹션으로 노출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985102" y="3721608"/>
            <a:ext cx="123444" cy="1234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141464" y="3677717"/>
            <a:ext cx="4686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로그아웃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(세션 종료)</a:t>
            </a:r>
            <a:endParaRPr lang="en-US" sz="900" dirty="0"/>
          </a:p>
        </p:txBody>
      </p:sp>
      <p:sp>
        <p:nvSpPr>
          <p:cNvPr id="30" name="Shape 17"/>
          <p:cNvSpPr/>
          <p:nvPr/>
        </p:nvSpPr>
        <p:spPr>
          <a:xfrm>
            <a:off x="6770218" y="4118458"/>
            <a:ext cx="5048402" cy="1248156"/>
          </a:xfrm>
          <a:prstGeom prst="roundRect">
            <a:avLst>
              <a:gd name="adj" fmla="val 11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18"/>
          <p:cNvSpPr/>
          <p:nvPr/>
        </p:nvSpPr>
        <p:spPr>
          <a:xfrm>
            <a:off x="6951269" y="4261104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2" name="Text 19"/>
          <p:cNvSpPr txBox="1"/>
          <p:nvPr/>
        </p:nvSpPr>
        <p:spPr>
          <a:xfrm>
            <a:off x="7056425" y="4261104"/>
            <a:ext cx="7114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359" b="-1359"/>
          <a:stretch/>
        </p:blipFill>
        <p:spPr>
          <a:xfrm>
            <a:off x="6994246" y="4598518"/>
            <a:ext cx="105156" cy="123444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141464" y="4554626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동작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햄버거 버튼 클릭 시 우측 슬라이드 인 애니메이션</a:t>
            </a:r>
            <a:endParaRPr lang="en-US" sz="9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2012" b="-2012"/>
          <a:stretch/>
        </p:blipFill>
        <p:spPr>
          <a:xfrm>
            <a:off x="6979615" y="4839005"/>
            <a:ext cx="133502" cy="123444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141464" y="4795114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표시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보고 있는 페이지 메뉴 항목 강조</a:t>
            </a:r>
            <a:endParaRPr lang="en-US" sz="9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524" b="-524"/>
          <a:stretch/>
        </p:blipFill>
        <p:spPr>
          <a:xfrm>
            <a:off x="6970471" y="5079492"/>
            <a:ext cx="152705" cy="123444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141464" y="5035601"/>
            <a:ext cx="4686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제어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비로그인 시 보호 메뉴 클릭 → 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모달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팝업</a:t>
            </a:r>
            <a:endParaRPr lang="en-US" sz="900" dirty="0"/>
          </a:p>
        </p:txBody>
      </p:sp>
      <p:sp>
        <p:nvSpPr>
          <p:cNvPr id="39" name="Shape 2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24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25"/>
          <p:cNvSpPr txBox="1"/>
          <p:nvPr/>
        </p:nvSpPr>
        <p:spPr>
          <a:xfrm>
            <a:off x="381305" y="652790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1000" dirty="0"/>
          </a:p>
        </p:txBody>
      </p:sp>
      <p:sp>
        <p:nvSpPr>
          <p:cNvPr id="42" name="Text 26"/>
          <p:cNvSpPr txBox="1"/>
          <p:nvPr/>
        </p:nvSpPr>
        <p:spPr>
          <a:xfrm>
            <a:off x="11145622" y="6527902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rcRect l="-87" r="-87" t="0" b="0"/>
          <a:stretch/>
        </p:blipFill>
        <p:spPr>
          <a:xfrm>
            <a:off x="1341425" y="5762549"/>
            <a:ext cx="1086307" cy="267005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1313078" y="5762549"/>
            <a:ext cx="1143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 View</a:t>
            </a:r>
            <a:endParaRPr lang="en-US" sz="9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40" b="-40"/>
          <a:stretch/>
        </p:blipFill>
        <p:spPr>
          <a:xfrm>
            <a:off x="4391863" y="5762549"/>
            <a:ext cx="1295705" cy="267005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4363517" y="5762549"/>
            <a:ext cx="1353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관리자(ADMIN) View</a:t>
            </a:r>
            <a:endParaRPr lang="en-US" sz="900" dirty="0"/>
          </a:p>
        </p:txBody>
      </p:sp>
      <p:sp>
        <p:nvSpPr>
          <p:cNvPr id="47" name="Shape 29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0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50" name="Text 31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" dirty="0"/>
          </a:p>
        </p:txBody>
      </p:sp>
      <p:sp>
        <p:nvSpPr>
          <p:cNvPr id="51" name="Text 32"/>
          <p:cNvSpPr txBox="1"/>
          <p:nvPr/>
        </p:nvSpPr>
        <p:spPr>
          <a:xfrm>
            <a:off x="990295" y="21031"/>
            <a:ext cx="18315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메뉴</a:t>
            </a:r>
            <a:endParaRPr lang="en-US" sz="1800" dirty="0"/>
          </a:p>
        </p:txBody>
      </p:sp>
      <p:sp>
        <p:nvSpPr>
          <p:cNvPr id="52" name="Shape 33"/>
          <p:cNvSpPr/>
          <p:nvPr/>
        </p:nvSpPr>
        <p:spPr>
          <a:xfrm>
            <a:off x="990295" y="401422"/>
            <a:ext cx="1695298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4"/>
          <p:cNvSpPr txBox="1"/>
          <p:nvPr/>
        </p:nvSpPr>
        <p:spPr>
          <a:xfrm>
            <a:off x="990295" y="401422"/>
            <a:ext cx="1763878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내비게이션 컴포넌트</a:t>
            </a:r>
            <a:endParaRPr lang="en-US" sz="1000" dirty="0"/>
          </a:p>
        </p:txBody>
      </p:sp>
      <p:sp>
        <p:nvSpPr>
          <p:cNvPr id="54" name="Text 35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91695" cy="57908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875995"/>
            <a:ext cx="5824728" cy="54105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000354"/>
            <a:ext cx="905256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000354"/>
            <a:ext cx="9628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모달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5377" r="5377" t="0" b="0"/>
          <a:stretch/>
        </p:blipFill>
        <p:spPr>
          <a:xfrm>
            <a:off x="390449" y="886054"/>
            <a:ext cx="5810098" cy="53913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34633" y="875995"/>
            <a:ext cx="5381244" cy="2943454"/>
          </a:xfrm>
          <a:prstGeom prst="roundRect">
            <a:avLst>
              <a:gd name="adj" fmla="val 24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33972" y="1037844"/>
            <a:ext cx="38405" cy="2478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7474" y="1037844"/>
            <a:ext cx="10204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 요소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33972" y="1447495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25082" y="1392631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입력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825082" y="1593799"/>
            <a:ext cx="4981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 필드. 이메일 형식 유효성 검사 적용.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838" r="-2838" t="0" b="0"/>
          <a:stretch/>
        </p:blipFill>
        <p:spPr>
          <a:xfrm>
            <a:off x="6633972" y="1915668"/>
            <a:ext cx="123444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25082" y="1860804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입력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6825082" y="2061972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 필드. 마스킹 처리(••••).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33972" y="2383841"/>
            <a:ext cx="133502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25082" y="2328977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버튼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6825082" y="2530145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이메일로 로그인(Primary Button). Enter 키 입력 시 동작.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2459" r="-2459" t="0" b="0"/>
          <a:stretch/>
        </p:blipFill>
        <p:spPr>
          <a:xfrm>
            <a:off x="6633972" y="2852014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825082" y="2797150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 로그인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6825082" y="2998318"/>
            <a:ext cx="49057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Google로 계속하기, GitHub으로 계속하기 지원.</a:t>
            </a:r>
            <a:endParaRPr lang="en-US" sz="9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6633972" y="3321101"/>
            <a:ext cx="171907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825082" y="3265322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링크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6825082" y="3467405"/>
            <a:ext cx="4981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정보 확인 · 비밀번호 재설정 · 회원가입(모달 전환)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6434633" y="3952951"/>
            <a:ext cx="5381244" cy="2343607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6633972" y="4114800"/>
            <a:ext cx="38405" cy="24780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767474" y="4114800"/>
            <a:ext cx="167335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 및 메시지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633972" y="4524451"/>
            <a:ext cx="133502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825082" y="4468673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실패</a:t>
            </a:r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"이메일 또는 비밀번호가 올바르지 않습니다."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6825082" y="4675327"/>
            <a:ext cx="4981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보안상 이메일 존재 여부 관계없이 동일 메시지 노출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633972" y="4959706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825082" y="4903927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비활성 계정</a:t>
            </a:r>
            <a:pPr algn="l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"비활성화된 계정입니다."</a:t>
            </a:r>
            <a:endParaRPr lang="en-US" sz="10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-2512" r="-2512" t="0" b="0"/>
          <a:stretch/>
        </p:blipFill>
        <p:spPr>
          <a:xfrm>
            <a:off x="6633972" y="5246827"/>
            <a:ext cx="105156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6825082" y="5191049"/>
            <a:ext cx="49057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Rate Limit</a:t>
            </a:r>
            <a:pPr algn="l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"잠시 후 다시 시도해주세요."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6825082" y="5397703"/>
            <a:ext cx="4981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시간 내 다수 실패 시 일시적 차단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633972" y="5682082"/>
            <a:ext cx="133502" cy="13350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825082" y="5626303"/>
            <a:ext cx="49816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쿠키 발급, 모달 닫힘, 페이지 유지(새로고침X).</a:t>
            </a:r>
            <a:endParaRPr lang="en-US" sz="10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-2512" r="-2512" t="0" b="0"/>
          <a:stretch/>
        </p:blipFill>
        <p:spPr>
          <a:xfrm>
            <a:off x="6633972" y="5969203"/>
            <a:ext cx="105156" cy="133502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825082" y="5913425"/>
            <a:ext cx="49057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닫기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 키 또는 배경(Dimmed Area) 클릭 시 닫힘.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29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30"/>
          <p:cNvSpPr txBox="1"/>
          <p:nvPr/>
        </p:nvSpPr>
        <p:spPr>
          <a:xfrm>
            <a:off x="381305" y="6580937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11184941" y="6580937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900" dirty="0"/>
          </a:p>
        </p:txBody>
      </p:sp>
      <p:sp>
        <p:nvSpPr>
          <p:cNvPr id="46" name="Shape 3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3"/>
          <p:cNvSpPr/>
          <p:nvPr/>
        </p:nvSpPr>
        <p:spPr>
          <a:xfrm>
            <a:off x="0" y="666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81305" y="133502"/>
            <a:ext cx="400507" cy="400507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352044" y="133502"/>
            <a:ext cx="457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" dirty="0"/>
          </a:p>
        </p:txBody>
      </p:sp>
      <p:sp>
        <p:nvSpPr>
          <p:cNvPr id="50" name="Text 35"/>
          <p:cNvSpPr txBox="1"/>
          <p:nvPr/>
        </p:nvSpPr>
        <p:spPr>
          <a:xfrm>
            <a:off x="933602" y="19202"/>
            <a:ext cx="16358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모달</a:t>
            </a:r>
            <a:endParaRPr lang="en-US" sz="1600" dirty="0"/>
          </a:p>
        </p:txBody>
      </p:sp>
      <p:sp>
        <p:nvSpPr>
          <p:cNvPr id="51" name="Shape 36"/>
          <p:cNvSpPr/>
          <p:nvPr/>
        </p:nvSpPr>
        <p:spPr>
          <a:xfrm>
            <a:off x="933602" y="376733"/>
            <a:ext cx="1514246" cy="276149"/>
          </a:xfrm>
          <a:prstGeom prst="roundRect">
            <a:avLst>
              <a:gd name="adj" fmla="val 13701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933602" y="376733"/>
            <a:ext cx="157551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인증 프로세스 UI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11385194" y="47549"/>
            <a:ext cx="5056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619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952805"/>
            <a:ext cx="6160313" cy="5238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076249"/>
            <a:ext cx="1009498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076249"/>
            <a:ext cx="10671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모달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1547" r="1547" t="0" b="0"/>
          <a:stretch/>
        </p:blipFill>
        <p:spPr>
          <a:xfrm>
            <a:off x="390449" y="961949"/>
            <a:ext cx="6143854" cy="52193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70218" y="952805"/>
            <a:ext cx="5048402" cy="2523744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970471" y="1114654"/>
            <a:ext cx="38405" cy="2569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03974" y="1114654"/>
            <a:ext cx="8229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조건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2838" r="-2838" t="0" b="0"/>
          <a:stretch/>
        </p:blipFill>
        <p:spPr>
          <a:xfrm>
            <a:off x="7003390" y="1526134"/>
            <a:ext cx="123444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7476" y="1461211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237476" y="1676095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입력. 한글/영문 2자 이상 입력 필요.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8818" y="2007108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37476" y="1943100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237476" y="2157070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입력. 중복 이메일 사용 불가.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2838" r="-2838" t="0" b="0"/>
          <a:stretch/>
        </p:blipFill>
        <p:spPr>
          <a:xfrm>
            <a:off x="7003390" y="2488997"/>
            <a:ext cx="123444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37476" y="2424074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237476" y="2638958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8자 이상, 72바이트 이하. 영문/숫자/특수문자 조합.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2838" r="-2838" t="0" b="0"/>
          <a:stretch/>
        </p:blipFill>
        <p:spPr>
          <a:xfrm>
            <a:off x="7003390" y="2969971"/>
            <a:ext cx="123444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237476" y="2905963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확인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7237476" y="3119933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비밀번호와 일치 시 '회원가입' 버튼 활성화.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6770218" y="3625596"/>
            <a:ext cx="5048402" cy="2781605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970471" y="3787445"/>
            <a:ext cx="38405" cy="25694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103974" y="3787445"/>
            <a:ext cx="1752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 및 메시지</a:t>
            </a:r>
            <a:endParaRPr lang="en-US" sz="13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98818" y="4198925"/>
            <a:ext cx="133502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37476" y="4134002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오류</a:t>
            </a:r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"이름은 2자 이상이어야 합니다."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6979615" y="4497934"/>
            <a:ext cx="171907" cy="13350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237476" y="4433011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중복</a:t>
            </a:r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"이미 사용 중인 이메일입니다."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7237476" y="4655210"/>
            <a:ext cx="4496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API 응답(409 Conflict) 시 노출</a:t>
            </a:r>
            <a:endParaRPr lang="en-US" sz="8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98818" y="4948733"/>
            <a:ext cx="133502" cy="13350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237476" y="4883810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비번 불일치</a:t>
            </a:r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"비밀번호가 일치하지 않습니다."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7237476" y="5106924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유효성 검사 또는 제출 시 확인</a:t>
            </a:r>
            <a:endParaRPr lang="en-US" sz="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98818" y="540044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237476" y="5335524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성공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7237476" y="5557723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시 즉시 로그인 뷰로 자동 전환.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998818" y="5889650"/>
            <a:ext cx="133502" cy="13350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237476" y="582472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전환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7237476" y="6046927"/>
            <a:ext cx="4572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'로그인' 링크 클릭 시 로그인 모달 뷰로 전환.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2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381305" y="652790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11145622" y="6527902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3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500" dirty="0"/>
          </a:p>
        </p:txBody>
      </p:sp>
      <p:sp>
        <p:nvSpPr>
          <p:cNvPr id="49" name="Text 35"/>
          <p:cNvSpPr txBox="1"/>
          <p:nvPr/>
        </p:nvSpPr>
        <p:spPr>
          <a:xfrm>
            <a:off x="990295" y="28346"/>
            <a:ext cx="162214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 모달</a:t>
            </a:r>
            <a:endParaRPr lang="en-US" sz="1800" dirty="0"/>
          </a:p>
        </p:txBody>
      </p:sp>
      <p:sp>
        <p:nvSpPr>
          <p:cNvPr id="50" name="Shape 36"/>
          <p:cNvSpPr/>
          <p:nvPr/>
        </p:nvSpPr>
        <p:spPr>
          <a:xfrm>
            <a:off x="990295" y="394106"/>
            <a:ext cx="1495044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990295" y="394106"/>
            <a:ext cx="1555394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생성 프로세스 UI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619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381305" y="990295"/>
            <a:ext cx="3003804" cy="516270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25922" r="25922" t="0" b="0"/>
          <a:stretch/>
        </p:blipFill>
        <p:spPr>
          <a:xfrm>
            <a:off x="390449" y="1000354"/>
            <a:ext cx="2991002" cy="51435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9" b="-9"/>
          <a:stretch/>
        </p:blipFill>
        <p:spPr>
          <a:xfrm>
            <a:off x="3537814" y="990295"/>
            <a:ext cx="3003804" cy="516270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25837" r="25837" t="0" b="0"/>
          <a:stretch/>
        </p:blipFill>
        <p:spPr>
          <a:xfrm>
            <a:off x="3546958" y="1000354"/>
            <a:ext cx="2991002" cy="51435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770218" y="1122883"/>
            <a:ext cx="5048402" cy="1914754"/>
          </a:xfrm>
          <a:prstGeom prst="roundRect">
            <a:avLst>
              <a:gd name="adj" fmla="val 47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6932066" y="1284732"/>
            <a:ext cx="28346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7056425" y="1284732"/>
            <a:ext cx="1657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 흐름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65899" y="1661465"/>
            <a:ext cx="123444" cy="12344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123176" y="1608430"/>
            <a:ext cx="4610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입력 → </a:t>
            </a:r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[번호발송]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인증번호 6자리 입력 → 확인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비밀번호 입력 → 변경 완료 </a:t>
            </a:r>
            <a:endParaRPr lang="en-US" sz="10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65899" y="2282342"/>
            <a:ext cx="123444" cy="12344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123176" y="2229307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인증번호 불일치 시: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"인증번호가 일치하지 않습니다."</a:t>
            </a:r>
            <a:endParaRPr lang="en-US" sz="10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65899" y="2726741"/>
            <a:ext cx="123444" cy="123444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7123176" y="2672791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"비밀번호가 변경되었습니다." 출력 후 로그인 전환</a:t>
            </a:r>
            <a:endParaRPr lang="en-US" sz="1000" dirty="0"/>
          </a:p>
        </p:txBody>
      </p:sp>
      <p:sp>
        <p:nvSpPr>
          <p:cNvPr id="18" name="Shape 9"/>
          <p:cNvSpPr/>
          <p:nvPr/>
        </p:nvSpPr>
        <p:spPr>
          <a:xfrm>
            <a:off x="6770218" y="3148279"/>
            <a:ext cx="5048402" cy="1638605"/>
          </a:xfrm>
          <a:prstGeom prst="roundRect">
            <a:avLst>
              <a:gd name="adj" fmla="val 64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6932066" y="3310128"/>
            <a:ext cx="28346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1"/>
          <p:cNvSpPr txBox="1"/>
          <p:nvPr/>
        </p:nvSpPr>
        <p:spPr>
          <a:xfrm>
            <a:off x="7056425" y="3310128"/>
            <a:ext cx="1593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정보 확인 흐름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012" b="-2012"/>
          <a:stretch/>
        </p:blipFill>
        <p:spPr>
          <a:xfrm>
            <a:off x="6960413" y="3687775"/>
            <a:ext cx="133502" cy="1234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23176" y="3633826"/>
            <a:ext cx="4610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이메일 입력 → </a:t>
            </a:r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[번호발송]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인증번호 6자리 입력 → 확인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시 이메일 + 닉네임 결과 카드 표시 </a:t>
            </a:r>
            <a:endParaRPr lang="en-US" sz="10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65899" y="4307738"/>
            <a:ext cx="123444" cy="1234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123176" y="4254703"/>
            <a:ext cx="4610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인증번호 불일치/만료 시: 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"인증번호가 일치하지 않거나 만료되었습니다."</a:t>
            </a:r>
            <a:endParaRPr lang="en-US" sz="1000" dirty="0"/>
          </a:p>
        </p:txBody>
      </p:sp>
      <p:sp>
        <p:nvSpPr>
          <p:cNvPr id="25" name="Shape 14"/>
          <p:cNvSpPr/>
          <p:nvPr/>
        </p:nvSpPr>
        <p:spPr>
          <a:xfrm>
            <a:off x="6770218" y="4899355"/>
            <a:ext cx="5048402" cy="1123798"/>
          </a:xfrm>
          <a:prstGeom prst="roundRect">
            <a:avLst>
              <a:gd name="adj" fmla="val 13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6932066" y="5061204"/>
            <a:ext cx="28346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7" name="Text 16"/>
          <p:cNvSpPr txBox="1"/>
          <p:nvPr/>
        </p:nvSpPr>
        <p:spPr>
          <a:xfrm>
            <a:off x="7056425" y="5061204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동작 조건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65899" y="5437937"/>
            <a:ext cx="123444" cy="1234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123176" y="5384902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요청 처리 중 모든 입력 필드 및 버튼 </a:t>
            </a:r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Disabled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524" b="-524"/>
          <a:stretch/>
        </p:blipFill>
        <p:spPr>
          <a:xfrm>
            <a:off x="6951269" y="5713171"/>
            <a:ext cx="152705" cy="12344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7123176" y="5660136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네트워크 에러 발생 시 시스템 공통 Toast 메시지 출력</a:t>
            </a:r>
            <a:endParaRPr lang="en-US" sz="1000" dirty="0"/>
          </a:p>
        </p:txBody>
      </p:sp>
      <p:sp>
        <p:nvSpPr>
          <p:cNvPr id="32" name="Shape 1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0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4" name="Text 21"/>
          <p:cNvSpPr txBox="1"/>
          <p:nvPr/>
        </p:nvSpPr>
        <p:spPr>
          <a:xfrm>
            <a:off x="381305" y="652790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11145622" y="6527902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204" b="-1204"/>
          <a:stretch/>
        </p:blipFill>
        <p:spPr>
          <a:xfrm>
            <a:off x="1339596" y="5732374"/>
            <a:ext cx="1086307" cy="304495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1311250" y="5732374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</a:t>
            </a:r>
            <a:endParaRPr lang="en-US" sz="9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43" b="-1143"/>
          <a:stretch/>
        </p:blipFill>
        <p:spPr>
          <a:xfrm>
            <a:off x="4535424" y="5732374"/>
            <a:ext cx="1009498" cy="304495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07078" y="5732374"/>
            <a:ext cx="10671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정보 확인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26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500" dirty="0"/>
          </a:p>
        </p:txBody>
      </p:sp>
      <p:sp>
        <p:nvSpPr>
          <p:cNvPr id="44" name="Text 28"/>
          <p:cNvSpPr txBox="1"/>
          <p:nvPr/>
        </p:nvSpPr>
        <p:spPr>
          <a:xfrm>
            <a:off x="990295" y="21031"/>
            <a:ext cx="39895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 / 가입 정보 확인</a:t>
            </a:r>
            <a:endParaRPr lang="en-US" sz="1800" dirty="0"/>
          </a:p>
        </p:txBody>
      </p:sp>
      <p:sp>
        <p:nvSpPr>
          <p:cNvPr id="45" name="Shape 29"/>
          <p:cNvSpPr/>
          <p:nvPr/>
        </p:nvSpPr>
        <p:spPr>
          <a:xfrm>
            <a:off x="990295" y="401422"/>
            <a:ext cx="3143707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0"/>
          <p:cNvSpPr txBox="1"/>
          <p:nvPr/>
        </p:nvSpPr>
        <p:spPr>
          <a:xfrm>
            <a:off x="990295" y="401422"/>
            <a:ext cx="32196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AuthModal Sub-views</a:t>
            </a:r>
            <a:endParaRPr lang="en-US" sz="1000" dirty="0"/>
          </a:p>
        </p:txBody>
      </p:sp>
      <p:sp>
        <p:nvSpPr>
          <p:cNvPr id="47" name="Text 31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91695" cy="57908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381305" y="875995"/>
            <a:ext cx="6181344" cy="54105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000354"/>
            <a:ext cx="905256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000354"/>
            <a:ext cx="9628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업로드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1773" r="1773" t="0" b="0"/>
          <a:stretch/>
        </p:blipFill>
        <p:spPr>
          <a:xfrm>
            <a:off x="390449" y="886054"/>
            <a:ext cx="6163056" cy="53913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52844" y="875995"/>
            <a:ext cx="5057546" cy="2486254"/>
          </a:xfrm>
          <a:prstGeom prst="roundRect">
            <a:avLst>
              <a:gd name="adj" fmla="val 2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15607" y="1135685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19849" y="1135685"/>
            <a:ext cx="9189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 요소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24" b="-524"/>
          <a:stretch/>
        </p:blipFill>
        <p:spPr>
          <a:xfrm>
            <a:off x="6915607" y="1472184"/>
            <a:ext cx="152705" cy="1234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86600" y="1429207"/>
            <a:ext cx="4677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드롭존 (Dropzone)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086600" y="1613002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파일 드래그 앤 드롭 또는 클릭하여 파일 탐색기 실행.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15607" y="1904695"/>
            <a:ext cx="123444" cy="1234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86600" y="1860804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 목록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086600" y="2045513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파일명, 현재 상태(대기/처리중/완료/실패), 삭제 버튼 표시.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1358" r="-1358" t="0" b="0"/>
          <a:stretch/>
        </p:blipFill>
        <p:spPr>
          <a:xfrm>
            <a:off x="6915607" y="2336292"/>
            <a:ext cx="95098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86600" y="2292401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버튼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086600" y="2477110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'업로드 및 요약 생성' 버튼. 파일 선택 시 활성화.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15607" y="2768803"/>
            <a:ext cx="123444" cy="1234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86600" y="2724912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안내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7086600" y="2909621"/>
            <a:ext cx="4677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흐름 안내: 1. 업로드 → 2. AI 자동 요약 → 3. 빠른 검색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6752844" y="3473806"/>
            <a:ext cx="5057546" cy="281909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915607" y="3616452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019849" y="3616452"/>
            <a:ext cx="1761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선택 및 처리 조건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15607" y="3952951"/>
            <a:ext cx="123444" cy="1234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086600" y="3909974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 사항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7086600" y="4119372"/>
            <a:ext cx="4677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PDF만 업로드 ("PDF 파일만 업로드 가능합니다.")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7086600" y="4310482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5개 (초과 시 경고), 중복 제외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15607" y="4601261"/>
            <a:ext cx="123444" cy="1234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086600" y="4557370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상태 흐름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7086600" y="4770425"/>
            <a:ext cx="4562856" cy="466344"/>
          </a:xfrm>
          <a:prstGeom prst="roundRect">
            <a:avLst>
              <a:gd name="adj" fmla="val 4801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7181698" y="4828032"/>
            <a:ext cx="190195" cy="190195"/>
          </a:xfrm>
          <a:prstGeom prst="ellipse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224674" y="4871009"/>
            <a:ext cx="105156" cy="10515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186270" y="5037430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</a:t>
            </a:r>
            <a:endParaRPr lang="en-US" sz="8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-6154" r="-6154" t="0" b="0"/>
          <a:stretch/>
        </p:blipFill>
        <p:spPr>
          <a:xfrm>
            <a:off x="8261604" y="4954219"/>
            <a:ext cx="66751" cy="95098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9272930" y="4828032"/>
            <a:ext cx="190195" cy="1901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273845" y="4828946"/>
            <a:ext cx="190195" cy="190195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217152" y="5037430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중</a:t>
            </a:r>
            <a:endParaRPr lang="en-US" sz="8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-6154" r="-6154" t="0" b="0"/>
          <a:stretch/>
        </p:blipFill>
        <p:spPr>
          <a:xfrm>
            <a:off x="10407701" y="4954219"/>
            <a:ext cx="66751" cy="95098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11363249" y="4828032"/>
            <a:ext cx="190195" cy="190195"/>
          </a:xfrm>
          <a:prstGeom prst="ellipse">
            <a:avLst/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rcRect l="-1677" r="-1677" t="0" b="0"/>
          <a:stretch/>
        </p:blipFill>
        <p:spPr>
          <a:xfrm>
            <a:off x="11410798" y="4871009"/>
            <a:ext cx="95098" cy="105156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11367821" y="5037430"/>
            <a:ext cx="267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8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915607" y="5329123"/>
            <a:ext cx="123444" cy="123444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7086600" y="5285232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900" dirty="0"/>
          </a:p>
        </p:txBody>
      </p:sp>
      <p:sp>
        <p:nvSpPr>
          <p:cNvPr id="47" name="Text 31"/>
          <p:cNvSpPr txBox="1"/>
          <p:nvPr/>
        </p:nvSpPr>
        <p:spPr>
          <a:xfrm>
            <a:off x="7086600" y="5495544"/>
            <a:ext cx="4677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Timeout(10분) 시 에러 / 비로그인 시 모달 팝업</a:t>
            </a:r>
            <a:endParaRPr lang="en-US" sz="9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1359" b="-1359"/>
          <a:stretch/>
        </p:blipFill>
        <p:spPr>
          <a:xfrm>
            <a:off x="6915607" y="5787238"/>
            <a:ext cx="105156" cy="123444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7086600" y="5743346"/>
            <a:ext cx="4753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동작</a:t>
            </a:r>
            <a:endParaRPr lang="en-US" sz="900" dirty="0"/>
          </a:p>
        </p:txBody>
      </p:sp>
      <p:sp>
        <p:nvSpPr>
          <p:cNvPr id="50" name="Text 33"/>
          <p:cNvSpPr txBox="1"/>
          <p:nvPr/>
        </p:nvSpPr>
        <p:spPr>
          <a:xfrm>
            <a:off x="7086600" y="5952744"/>
            <a:ext cx="4753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시 아코디언 표시 (사건번호, 법원, 판결일, 요약본)</a:t>
            </a:r>
            <a:endParaRPr lang="en-US" sz="900" dirty="0"/>
          </a:p>
        </p:txBody>
      </p:sp>
      <p:sp>
        <p:nvSpPr>
          <p:cNvPr id="51" name="Shape 3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3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381305" y="6580937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11184941" y="6580937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900" dirty="0"/>
          </a:p>
        </p:txBody>
      </p:sp>
      <p:sp>
        <p:nvSpPr>
          <p:cNvPr id="55" name="Shape 38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39"/>
          <p:cNvSpPr/>
          <p:nvPr/>
        </p:nvSpPr>
        <p:spPr>
          <a:xfrm>
            <a:off x="0" y="666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81305" y="133502"/>
            <a:ext cx="400507" cy="400507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352044" y="133502"/>
            <a:ext cx="457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500" dirty="0"/>
          </a:p>
        </p:txBody>
      </p:sp>
      <p:sp>
        <p:nvSpPr>
          <p:cNvPr id="59" name="Text 41"/>
          <p:cNvSpPr txBox="1"/>
          <p:nvPr/>
        </p:nvSpPr>
        <p:spPr>
          <a:xfrm>
            <a:off x="933602" y="19202"/>
            <a:ext cx="209854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업로드 페이지</a:t>
            </a:r>
            <a:endParaRPr lang="en-US" sz="1600" dirty="0"/>
          </a:p>
        </p:txBody>
      </p:sp>
      <p:sp>
        <p:nvSpPr>
          <p:cNvPr id="60" name="Shape 42"/>
          <p:cNvSpPr/>
          <p:nvPr/>
        </p:nvSpPr>
        <p:spPr>
          <a:xfrm>
            <a:off x="933602" y="376733"/>
            <a:ext cx="1752905" cy="276149"/>
          </a:xfrm>
          <a:prstGeom prst="roundRect">
            <a:avLst>
              <a:gd name="adj" fmla="val 13701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3"/>
          <p:cNvSpPr txBox="1"/>
          <p:nvPr/>
        </p:nvSpPr>
        <p:spPr>
          <a:xfrm>
            <a:off x="933602" y="376733"/>
            <a:ext cx="182331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/upload · 로그인 필요</a:t>
            </a:r>
            <a:endParaRPr lang="en-US" sz="1000" dirty="0"/>
          </a:p>
        </p:txBody>
      </p:sp>
      <p:sp>
        <p:nvSpPr>
          <p:cNvPr id="62" name="Text 44"/>
          <p:cNvSpPr txBox="1"/>
          <p:nvPr/>
        </p:nvSpPr>
        <p:spPr>
          <a:xfrm>
            <a:off x="11385194" y="47549"/>
            <a:ext cx="5056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619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" b="-2"/>
          <a:stretch/>
        </p:blipFill>
        <p:spPr>
          <a:xfrm>
            <a:off x="381305" y="990295"/>
            <a:ext cx="6129223" cy="5162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114654"/>
            <a:ext cx="886054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114654"/>
            <a:ext cx="9436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목록 화면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130" r="130" t="0" b="0"/>
          <a:stretch/>
        </p:blipFill>
        <p:spPr>
          <a:xfrm>
            <a:off x="390449" y="1000354"/>
            <a:ext cx="6115507" cy="5143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95821" y="990295"/>
            <a:ext cx="5020056" cy="2523744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976872" y="1348740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10374" y="1348740"/>
            <a:ext cx="975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 요소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96074" y="1708099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4674" y="1653235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및 필터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224674" y="1837944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제목/내용 검색 입력창 제공. '내 업로드' vs '전체 판례' 보기 토글 지원.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96074" y="2097634"/>
            <a:ext cx="133502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24674" y="2043684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탭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7224674" y="2228393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· 민사 · 형사 · 노동 · 행정 · 가사 카테고리 필터링.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2644" b="-2644"/>
          <a:stretch/>
        </p:blipFill>
        <p:spPr>
          <a:xfrm>
            <a:off x="7015277" y="2488082"/>
            <a:ext cx="95098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24674" y="2433218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카드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224674" y="2617927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제목, 법원, 판결일, AI 요약문 미리보기(최대 2줄) 표시.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96074" y="2877617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224674" y="2823667"/>
            <a:ext cx="4601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페이지네이션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7224674" y="3008376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페이지당 5건의 판례 목록 표시. 하단에 페이지 이동 컨트롤 배치.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6795821" y="3629254"/>
            <a:ext cx="5020056" cy="2523744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976872" y="3880714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110374" y="3880714"/>
            <a:ext cx="1431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 및 상태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554" b="-1554"/>
          <a:stretch/>
        </p:blipFill>
        <p:spPr>
          <a:xfrm>
            <a:off x="6981444" y="4239158"/>
            <a:ext cx="161849" cy="13350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7224674" y="4216298"/>
            <a:ext cx="495605" cy="161849"/>
          </a:xfrm>
          <a:prstGeom prst="roundRect">
            <a:avLst>
              <a:gd name="adj" fmla="val 26586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224674" y="4216298"/>
            <a:ext cx="5715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유지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7224674" y="4379062"/>
            <a:ext cx="44869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쿼리 파라미터로 필터 상태 동기화.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?page=1&amp;keyword=...&amp;view_type=all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96074" y="4801514"/>
            <a:ext cx="133502" cy="13350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224674" y="4778654"/>
            <a:ext cx="580644" cy="161849"/>
          </a:xfrm>
          <a:prstGeom prst="roundRect">
            <a:avLst>
              <a:gd name="adj" fmla="val 26586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7224674" y="4778654"/>
            <a:ext cx="6574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초기화 로직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7224674" y="4940503"/>
            <a:ext cx="46012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검색어 입력/카테고리 변경 시 자동으로 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page=1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리셋.</a:t>
            </a:r>
            <a:endParaRPr lang="en-US" sz="9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96074" y="5213909"/>
            <a:ext cx="133502" cy="133502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7224674" y="5191049"/>
            <a:ext cx="495605" cy="161849"/>
          </a:xfrm>
          <a:prstGeom prst="roundRect">
            <a:avLst>
              <a:gd name="adj" fmla="val 265869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7224674" y="5191049"/>
            <a:ext cx="5715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없음</a:t>
            </a:r>
            <a:endParaRPr lang="en-US" sz="800" dirty="0"/>
          </a:p>
        </p:txBody>
      </p:sp>
      <p:sp>
        <p:nvSpPr>
          <p:cNvPr id="38" name="Text 27"/>
          <p:cNvSpPr txBox="1"/>
          <p:nvPr/>
        </p:nvSpPr>
        <p:spPr>
          <a:xfrm>
            <a:off x="7224674" y="5353812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조건에 맞는 판례가 없을 경우 "판례가 없습니다." 안내 문구 표시.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7005218" y="5613502"/>
            <a:ext cx="114300" cy="13350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7224674" y="5590642"/>
            <a:ext cx="495605" cy="161849"/>
          </a:xfrm>
          <a:prstGeom prst="roundRect">
            <a:avLst>
              <a:gd name="adj" fmla="val 26586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7224674" y="5590642"/>
            <a:ext cx="5715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12700" rIns="508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처리</a:t>
            </a:r>
            <a:endParaRPr lang="en-US" sz="800" dirty="0"/>
          </a:p>
        </p:txBody>
      </p:sp>
      <p:sp>
        <p:nvSpPr>
          <p:cNvPr id="42" name="Text 30"/>
          <p:cNvSpPr txBox="1"/>
          <p:nvPr/>
        </p:nvSpPr>
        <p:spPr>
          <a:xfrm>
            <a:off x="7224674" y="5753405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성공 시 "판례가 삭제되었습니다." 토스트 출력 및 목록 즉시 갱신.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2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381305" y="652790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11145622" y="6527902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6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500" dirty="0"/>
          </a:p>
        </p:txBody>
      </p:sp>
      <p:sp>
        <p:nvSpPr>
          <p:cNvPr id="51" name="Text 38"/>
          <p:cNvSpPr txBox="1"/>
          <p:nvPr/>
        </p:nvSpPr>
        <p:spPr>
          <a:xfrm>
            <a:off x="990295" y="21031"/>
            <a:ext cx="23253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목록 / 검색</a:t>
            </a:r>
            <a:endParaRPr lang="en-US" sz="1800" dirty="0"/>
          </a:p>
        </p:txBody>
      </p:sp>
      <p:sp>
        <p:nvSpPr>
          <p:cNvPr id="52" name="Shape 39"/>
          <p:cNvSpPr/>
          <p:nvPr/>
        </p:nvSpPr>
        <p:spPr>
          <a:xfrm>
            <a:off x="990295" y="401422"/>
            <a:ext cx="2152498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990295" y="401422"/>
            <a:ext cx="22293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/documents · 로그인 필요</a:t>
            </a:r>
            <a:endParaRPr lang="en-US" sz="1000" dirty="0"/>
          </a:p>
        </p:txBody>
      </p:sp>
      <p:sp>
        <p:nvSpPr>
          <p:cNvPr id="54" name="Text 41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61695"/>
            <a:ext cx="12191695" cy="5619902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381305" y="990295"/>
            <a:ext cx="6160313" cy="5162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114654"/>
            <a:ext cx="1047902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114654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상세 화면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85"/>
          <a:stretch/>
        </p:blipFill>
        <p:spPr>
          <a:xfrm>
            <a:off x="390449" y="1000354"/>
            <a:ext cx="6143854" cy="5143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70218" y="990295"/>
            <a:ext cx="5048402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32066" y="1152144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65569" y="1152144"/>
            <a:ext cx="18544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액션 및 기본 정보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59" b="-1359"/>
          <a:stretch/>
        </p:blipFill>
        <p:spPr>
          <a:xfrm>
            <a:off x="6932066" y="1529791"/>
            <a:ext cx="105156" cy="1234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23176" y="1476756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뒤로가기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7123176" y="1677010"/>
            <a:ext cx="22631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필터/페이지 상태 복원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67114" y="1529791"/>
            <a:ext cx="123444" cy="1234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57309" y="1476756"/>
            <a:ext cx="2179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다운로드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9557309" y="1677010"/>
            <a:ext cx="2179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summary_id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존재 시 노출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6932066" y="1996135"/>
            <a:ext cx="105156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23176" y="1943100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버튼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123176" y="2143354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또는 ADMIN 권한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9367114" y="1996135"/>
            <a:ext cx="105156" cy="1234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557309" y="1943100"/>
            <a:ext cx="22631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표시 규칙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9557309" y="2143354"/>
            <a:ext cx="21799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case_name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우선 Fallback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6770218" y="2762402"/>
            <a:ext cx="5048402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932066" y="2924251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065569" y="2924251"/>
            <a:ext cx="1171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섹션 구성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24" b="-524"/>
          <a:stretch/>
        </p:blipFill>
        <p:spPr>
          <a:xfrm>
            <a:off x="6932066" y="3300984"/>
            <a:ext cx="152705" cy="1234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23176" y="3247949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메타 정보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7123176" y="3448202"/>
            <a:ext cx="4724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법원, 사건번호, 판결일 표시. 데이터 부재 시 '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 표시.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012" b="-2012"/>
          <a:stretch/>
        </p:blipFill>
        <p:spPr>
          <a:xfrm>
            <a:off x="6932066" y="3749040"/>
            <a:ext cx="133502" cy="1234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23176" y="3696005"/>
            <a:ext cx="47247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정보 카드 순서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7123176" y="3915461"/>
            <a:ext cx="685800" cy="200254"/>
          </a:xfrm>
          <a:prstGeom prst="roundRect">
            <a:avLst>
              <a:gd name="adj" fmla="val 45662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7123176" y="3915461"/>
            <a:ext cx="7626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✨ AI 요약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7839151" y="3915461"/>
            <a:ext cx="647395" cy="200254"/>
          </a:xfrm>
          <a:prstGeom prst="roundRect">
            <a:avLst>
              <a:gd name="adj" fmla="val 4566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839151" y="3915461"/>
            <a:ext cx="7242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당사자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8519465" y="3915461"/>
            <a:ext cx="780898" cy="200254"/>
          </a:xfrm>
          <a:prstGeom prst="roundRect">
            <a:avLst>
              <a:gd name="adj" fmla="val 4566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8519465" y="3915461"/>
            <a:ext cx="8577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사실 관계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9336938" y="3915461"/>
            <a:ext cx="1037844" cy="200254"/>
          </a:xfrm>
          <a:prstGeom prst="roundRect">
            <a:avLst>
              <a:gd name="adj" fmla="val 4566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9336938" y="3915461"/>
            <a:ext cx="1121969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 판결 주문/근거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10410444" y="3915461"/>
            <a:ext cx="780898" cy="200254"/>
          </a:xfrm>
          <a:prstGeom prst="roundRect">
            <a:avLst>
              <a:gd name="adj" fmla="val 45662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10410444" y="3915461"/>
            <a:ext cx="8577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📜 관련 법령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770218" y="4533595"/>
            <a:ext cx="5048402" cy="1619402"/>
          </a:xfrm>
          <a:prstGeom prst="roundRect">
            <a:avLst>
              <a:gd name="adj" fmla="val 79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932066" y="4695444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7065569" y="4695444"/>
            <a:ext cx="18544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조건 및 예외 처리</a:t>
            </a:r>
            <a:endParaRPr lang="en-US" sz="12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932066" y="5073091"/>
            <a:ext cx="123444" cy="123444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7123176" y="5038344"/>
            <a:ext cx="314554" cy="171907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7123176" y="5038344"/>
            <a:ext cx="391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로딩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7123176" y="5225796"/>
            <a:ext cx="22631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스켈레톤 UI 노출</a:t>
            </a:r>
            <a:endParaRPr lang="en-US" sz="9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67114" y="5073091"/>
            <a:ext cx="123444" cy="123444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9557309" y="5038344"/>
            <a:ext cx="543154" cy="171907"/>
          </a:xfrm>
          <a:prstGeom prst="roundRect">
            <a:avLst>
              <a:gd name="adj" fmla="val 236407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9"/>
          <p:cNvSpPr txBox="1"/>
          <p:nvPr/>
        </p:nvSpPr>
        <p:spPr>
          <a:xfrm>
            <a:off x="9557309" y="5038344"/>
            <a:ext cx="6199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없음</a:t>
            </a:r>
            <a:endParaRPr lang="en-US" sz="800" dirty="0"/>
          </a:p>
        </p:txBody>
      </p:sp>
      <p:sp>
        <p:nvSpPr>
          <p:cNvPr id="52" name="Text 40"/>
          <p:cNvSpPr txBox="1"/>
          <p:nvPr/>
        </p:nvSpPr>
        <p:spPr>
          <a:xfrm>
            <a:off x="9557309" y="5225796"/>
            <a:ext cx="22631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메시지 표시</a:t>
            </a:r>
            <a:endParaRPr lang="en-US" sz="9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359" b="-1359"/>
          <a:stretch/>
        </p:blipFill>
        <p:spPr>
          <a:xfrm>
            <a:off x="6932066" y="5533034"/>
            <a:ext cx="105156" cy="123444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7123176" y="5499202"/>
            <a:ext cx="543154" cy="171907"/>
          </a:xfrm>
          <a:prstGeom prst="roundRect">
            <a:avLst>
              <a:gd name="adj" fmla="val 236407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2"/>
          <p:cNvSpPr txBox="1"/>
          <p:nvPr/>
        </p:nvSpPr>
        <p:spPr>
          <a:xfrm>
            <a:off x="7123176" y="5499202"/>
            <a:ext cx="6199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성공</a:t>
            </a:r>
            <a:endParaRPr lang="en-US" sz="800" dirty="0"/>
          </a:p>
        </p:txBody>
      </p:sp>
      <p:sp>
        <p:nvSpPr>
          <p:cNvPr id="56" name="Text 43"/>
          <p:cNvSpPr txBox="1"/>
          <p:nvPr/>
        </p:nvSpPr>
        <p:spPr>
          <a:xfrm>
            <a:off x="7123176" y="5686654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Toast 후 목록 이동</a:t>
            </a:r>
            <a:endParaRPr lang="en-US" sz="900" dirty="0"/>
          </a:p>
        </p:txBody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67114" y="5533034"/>
            <a:ext cx="123444" cy="123444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9557309" y="5499202"/>
            <a:ext cx="543154" cy="171907"/>
          </a:xfrm>
          <a:prstGeom prst="roundRect">
            <a:avLst>
              <a:gd name="adj" fmla="val 236407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5"/>
          <p:cNvSpPr txBox="1"/>
          <p:nvPr/>
        </p:nvSpPr>
        <p:spPr>
          <a:xfrm>
            <a:off x="9557309" y="5499202"/>
            <a:ext cx="6199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12700" rIns="63500" bIns="127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실패</a:t>
            </a:r>
            <a:endParaRPr lang="en-US" sz="800" dirty="0"/>
          </a:p>
        </p:txBody>
      </p:sp>
      <p:sp>
        <p:nvSpPr>
          <p:cNvPr id="60" name="Text 46"/>
          <p:cNvSpPr txBox="1"/>
          <p:nvPr/>
        </p:nvSpPr>
        <p:spPr>
          <a:xfrm>
            <a:off x="9557309" y="5686654"/>
            <a:ext cx="21799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Toast 유지 (모달 닫힘)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8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3" name="Text 49"/>
          <p:cNvSpPr txBox="1"/>
          <p:nvPr/>
        </p:nvSpPr>
        <p:spPr>
          <a:xfrm>
            <a:off x="381305" y="6527902"/>
            <a:ext cx="19302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1000" dirty="0"/>
          </a:p>
        </p:txBody>
      </p:sp>
      <p:sp>
        <p:nvSpPr>
          <p:cNvPr id="64" name="Text 50"/>
          <p:cNvSpPr txBox="1"/>
          <p:nvPr/>
        </p:nvSpPr>
        <p:spPr>
          <a:xfrm>
            <a:off x="11145622" y="6527902"/>
            <a:ext cx="793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1000" dirty="0"/>
          </a:p>
        </p:txBody>
      </p:sp>
      <p:sp>
        <p:nvSpPr>
          <p:cNvPr id="65" name="Shape 5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hape 52"/>
          <p:cNvSpPr/>
          <p:nvPr/>
        </p:nvSpPr>
        <p:spPr>
          <a:xfrm>
            <a:off x="0" y="742493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381305" y="142646"/>
            <a:ext cx="457200" cy="4572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352044" y="142646"/>
            <a:ext cx="5148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500" dirty="0"/>
          </a:p>
        </p:txBody>
      </p:sp>
      <p:sp>
        <p:nvSpPr>
          <p:cNvPr id="69" name="Text 54"/>
          <p:cNvSpPr txBox="1"/>
          <p:nvPr/>
        </p:nvSpPr>
        <p:spPr>
          <a:xfrm>
            <a:off x="990295" y="21031"/>
            <a:ext cx="2572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상세</a:t>
            </a:r>
            <a:endParaRPr lang="en-US" sz="1800" dirty="0"/>
          </a:p>
        </p:txBody>
      </p:sp>
      <p:sp>
        <p:nvSpPr>
          <p:cNvPr id="70" name="Shape 55"/>
          <p:cNvSpPr/>
          <p:nvPr/>
        </p:nvSpPr>
        <p:spPr>
          <a:xfrm>
            <a:off x="990295" y="401422"/>
            <a:ext cx="2381098" cy="323698"/>
          </a:xfrm>
          <a:prstGeom prst="roundRect">
            <a:avLst>
              <a:gd name="adj" fmla="val 9970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6"/>
          <p:cNvSpPr txBox="1"/>
          <p:nvPr/>
        </p:nvSpPr>
        <p:spPr>
          <a:xfrm>
            <a:off x="990295" y="401422"/>
            <a:ext cx="24579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/documents/:id · 로그인 필요</a:t>
            </a:r>
            <a:endParaRPr lang="en-US" sz="1000" dirty="0"/>
          </a:p>
        </p:txBody>
      </p:sp>
      <p:sp>
        <p:nvSpPr>
          <p:cNvPr id="72" name="Text 57"/>
          <p:cNvSpPr txBox="1"/>
          <p:nvPr/>
        </p:nvSpPr>
        <p:spPr>
          <a:xfrm>
            <a:off x="11291926" y="28346"/>
            <a:ext cx="6007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12191695" cy="5790895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" b="-6"/>
          <a:stretch/>
        </p:blipFill>
        <p:spPr>
          <a:xfrm>
            <a:off x="381305" y="875995"/>
            <a:ext cx="6160313" cy="54105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1000354"/>
            <a:ext cx="1228954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1000354"/>
            <a:ext cx="12865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/ 계정 관리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2480" r="2480" t="0" b="0"/>
          <a:stretch/>
        </p:blipFill>
        <p:spPr>
          <a:xfrm>
            <a:off x="390449" y="886054"/>
            <a:ext cx="6143854" cy="539130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70218" y="875995"/>
            <a:ext cx="5048402" cy="1638605"/>
          </a:xfrm>
          <a:prstGeom prst="roundRect">
            <a:avLst>
              <a:gd name="adj" fmla="val 64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32066" y="1000354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37222" y="1000354"/>
            <a:ext cx="9189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구성 요소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2012" b="-2012"/>
          <a:stretch/>
        </p:blipFill>
        <p:spPr>
          <a:xfrm>
            <a:off x="6932066" y="1336853"/>
            <a:ext cx="133502" cy="1234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03974" y="1293876"/>
            <a:ext cx="4743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 카드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7103974" y="1467612"/>
            <a:ext cx="4743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이름, 이메일 주소, 계정 가입일 표시. 이름 수정 버튼 포함.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012" b="-2012"/>
          <a:stretch/>
        </p:blipFill>
        <p:spPr>
          <a:xfrm>
            <a:off x="6932066" y="1720901"/>
            <a:ext cx="133502" cy="1234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103974" y="1677010"/>
            <a:ext cx="4743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 파일 목록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7103974" y="1851660"/>
            <a:ext cx="4743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직접 업로드한 판례 목록. 결과가 없을 경우 Empty State 표시.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32066" y="2104949"/>
            <a:ext cx="123444" cy="1234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03974" y="2061058"/>
            <a:ext cx="4743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설정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103974" y="2234794"/>
            <a:ext cx="4668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회원탈퇴(Danger Zone) 등 계정 관련 중요 설정 기능 제공.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770218" y="2606040"/>
            <a:ext cx="5048402" cy="1742846"/>
          </a:xfrm>
          <a:prstGeom prst="roundRect">
            <a:avLst>
              <a:gd name="adj" fmla="val 5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932066" y="2730398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037222" y="2730398"/>
            <a:ext cx="2051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사용자명 수정 (Inline Edit)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932066" y="3066898"/>
            <a:ext cx="123444" cy="1234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103974" y="3023921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모드 진입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7103974" y="3224174"/>
            <a:ext cx="4743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'이름 수정' 버튼 클릭 시 텍스트가 인라인 입력 필드(Input)로 전환.</a:t>
            </a:r>
            <a:endParaRPr lang="en-US" sz="9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359" b="-1359"/>
          <a:stretch/>
        </p:blipFill>
        <p:spPr>
          <a:xfrm>
            <a:off x="6932066" y="3477463"/>
            <a:ext cx="105156" cy="1234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03974" y="3433572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프로세스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7103974" y="3633826"/>
            <a:ext cx="46680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후 확인/엔터 입력 시 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/auth/username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호출.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932066" y="3915461"/>
            <a:ext cx="123444" cy="1234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103974" y="3871570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54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 동작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7103974" y="4071823"/>
            <a:ext cx="4743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 버튼 또는 ESC 입력 시 편집 모드 종료, 변경 전 원래 이름으로 복원.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6770218" y="4443984"/>
            <a:ext cx="5048402" cy="1333195"/>
          </a:xfrm>
          <a:prstGeom prst="roundRect">
            <a:avLst>
              <a:gd name="adj" fmla="val 97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6932066" y="4567428"/>
            <a:ext cx="28346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037222" y="4567428"/>
            <a:ext cx="16678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회원탈퇴 및 접근 제어</a:t>
            </a:r>
            <a:endParaRPr lang="en-US" sz="11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59" b="-1359"/>
          <a:stretch/>
        </p:blipFill>
        <p:spPr>
          <a:xfrm>
            <a:off x="6932066" y="4904842"/>
            <a:ext cx="105156" cy="123444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103974" y="4860950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회원탈퇴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7103974" y="5061204"/>
            <a:ext cx="47091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탈퇴 버튼 클릭 → 재확인 모달 → </a:t>
            </a:r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/auth/delete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호출. 성공 시 메인 이동.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932066" y="5342839"/>
            <a:ext cx="123444" cy="123444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103974" y="5298948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비인증 접근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7103974" y="5499202"/>
            <a:ext cx="5019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로그인하지 않은 사용자가 URL로 직접 접근 시 메인으로 리다이렉트 후 로그인 모달 팝업.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31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381305" y="6580937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1184941" y="6580937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5"/>
          <p:cNvSpPr/>
          <p:nvPr/>
        </p:nvSpPr>
        <p:spPr>
          <a:xfrm>
            <a:off x="0" y="666598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81305" y="133502"/>
            <a:ext cx="400507" cy="400507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352044" y="133502"/>
            <a:ext cx="457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500" dirty="0"/>
          </a:p>
        </p:txBody>
      </p:sp>
      <p:sp>
        <p:nvSpPr>
          <p:cNvPr id="50" name="Text 37"/>
          <p:cNvSpPr txBox="1"/>
          <p:nvPr/>
        </p:nvSpPr>
        <p:spPr>
          <a:xfrm>
            <a:off x="933602" y="19202"/>
            <a:ext cx="2148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/ 계정 관리</a:t>
            </a:r>
            <a:endParaRPr lang="en-US" sz="1600" dirty="0"/>
          </a:p>
        </p:txBody>
      </p:sp>
      <p:sp>
        <p:nvSpPr>
          <p:cNvPr id="51" name="Shape 38"/>
          <p:cNvSpPr/>
          <p:nvPr/>
        </p:nvSpPr>
        <p:spPr>
          <a:xfrm>
            <a:off x="933602" y="376733"/>
            <a:ext cx="1723644" cy="276149"/>
          </a:xfrm>
          <a:prstGeom prst="roundRect">
            <a:avLst>
              <a:gd name="adj" fmla="val 13701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933602" y="376733"/>
            <a:ext cx="179313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/profile · 로그인 필요</a:t>
            </a:r>
            <a:endParaRPr lang="en-US" sz="1000" dirty="0"/>
          </a:p>
        </p:txBody>
      </p:sp>
      <p:sp>
        <p:nvSpPr>
          <p:cNvPr id="53" name="Text 40"/>
          <p:cNvSpPr txBox="1"/>
          <p:nvPr/>
        </p:nvSpPr>
        <p:spPr>
          <a:xfrm>
            <a:off x="11385194" y="47549"/>
            <a:ext cx="5056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6598"/>
            <a:ext cx="12191695" cy="5810098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381305" y="857707"/>
            <a:ext cx="6491326" cy="54297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4749" y="981151"/>
            <a:ext cx="1114654" cy="247802"/>
          </a:xfrm>
          <a:prstGeom prst="roundRect">
            <a:avLst>
              <a:gd name="adj" fmla="val 170310"/>
            </a:avLst>
          </a:prstGeom>
          <a:solidFill>
            <a:srgbClr val="1E3A5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4749" y="981151"/>
            <a:ext cx="11722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대시보드 UI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416"/>
          <a:stretch/>
        </p:blipFill>
        <p:spPr>
          <a:xfrm>
            <a:off x="390449" y="866851"/>
            <a:ext cx="6476695" cy="54105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10374" y="857707"/>
            <a:ext cx="4705502" cy="1390802"/>
          </a:xfrm>
          <a:prstGeom prst="roundRect">
            <a:avLst>
              <a:gd name="adj" fmla="val 90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91426" y="1000354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24928" y="1000354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페이지 탭 구성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91426" y="1378915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81621" y="1324051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7481621" y="1513332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현황 지표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9537192" y="1378915"/>
            <a:ext cx="171907" cy="13350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27387" y="1324051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관리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9727387" y="1513332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목록/활성/삭제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7291426" y="1816913"/>
            <a:ext cx="105156" cy="1335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81621" y="1761134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관리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481621" y="1951330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조회/수정/삭제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1507" r="-1507" t="0" b="0"/>
          <a:stretch/>
        </p:blipFill>
        <p:spPr>
          <a:xfrm>
            <a:off x="9537192" y="1816913"/>
            <a:ext cx="171907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727387" y="1761134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설정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9727387" y="1951330"/>
            <a:ext cx="1981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AI/DB/로그 관리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7110374" y="2360981"/>
            <a:ext cx="4705502" cy="1390802"/>
          </a:xfrm>
          <a:prstGeom prst="roundRect">
            <a:avLst>
              <a:gd name="adj" fmla="val 90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291426" y="2503627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7424928" y="2503627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전용 기능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7291426" y="2883103"/>
            <a:ext cx="171907" cy="1335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81621" y="2827325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업로드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7481621" y="3017520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'전체 공개' 저장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537192" y="2883103"/>
            <a:ext cx="133502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727387" y="2827325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수정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9727387" y="3017520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카테고리/요약 편집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2838" r="-2838" t="0" b="0"/>
          <a:stretch/>
        </p:blipFill>
        <p:spPr>
          <a:xfrm>
            <a:off x="7291426" y="3320186"/>
            <a:ext cx="123444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481621" y="3264408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삭제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7481621" y="3454603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무관 전체 권한</a:t>
            </a:r>
            <a:endParaRPr lang="en-US" sz="9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537192" y="3320186"/>
            <a:ext cx="133502" cy="13350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9727387" y="3264408"/>
            <a:ext cx="20574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관리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9727387" y="3454603"/>
            <a:ext cx="2057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 추가 및 삭제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7110374" y="3864254"/>
            <a:ext cx="4705502" cy="2428646"/>
          </a:xfrm>
          <a:prstGeom prst="roundRect">
            <a:avLst>
              <a:gd name="adj" fmla="val 29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7291426" y="4006901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7424928" y="4006901"/>
            <a:ext cx="748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제어</a:t>
            </a:r>
            <a:endParaRPr lang="en-US" sz="12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291426" y="4386377"/>
            <a:ext cx="133502" cy="133502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7481621" y="4330598"/>
            <a:ext cx="4343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확인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7481621" y="4547311"/>
            <a:ext cx="44842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역할이 아닌 계정이 URL로 직접 접근 시도 시 차단 및 메인 리다이렉트.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81305" y="6580937"/>
            <a:ext cx="18169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판례 요약 시스템 화면 정의서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11184941" y="6580937"/>
            <a:ext cx="7488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2026-03-10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0" y="0"/>
            <a:ext cx="12191695" cy="6665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37"/>
          <p:cNvSpPr/>
          <p:nvPr/>
        </p:nvSpPr>
        <p:spPr>
          <a:xfrm>
            <a:off x="0" y="647395"/>
            <a:ext cx="121916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81305" y="123444"/>
            <a:ext cx="400507" cy="400507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352044" y="123444"/>
            <a:ext cx="457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500" dirty="0"/>
          </a:p>
        </p:txBody>
      </p:sp>
      <p:sp>
        <p:nvSpPr>
          <p:cNvPr id="53" name="Text 39"/>
          <p:cNvSpPr txBox="1"/>
          <p:nvPr/>
        </p:nvSpPr>
        <p:spPr>
          <a:xfrm>
            <a:off x="933602" y="9144"/>
            <a:ext cx="23353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페이지</a:t>
            </a:r>
            <a:endParaRPr lang="en-US" sz="1600" dirty="0"/>
          </a:p>
        </p:txBody>
      </p:sp>
      <p:sp>
        <p:nvSpPr>
          <p:cNvPr id="54" name="Shape 40"/>
          <p:cNvSpPr/>
          <p:nvPr/>
        </p:nvSpPr>
        <p:spPr>
          <a:xfrm>
            <a:off x="933602" y="367589"/>
            <a:ext cx="2162556" cy="276149"/>
          </a:xfrm>
          <a:prstGeom prst="roundRect">
            <a:avLst>
              <a:gd name="adj" fmla="val 13701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933602" y="367589"/>
            <a:ext cx="22384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URL: /admin · ADMIN 역할만 접근</a:t>
            </a:r>
            <a:endParaRPr lang="en-US" sz="1000" dirty="0"/>
          </a:p>
        </p:txBody>
      </p:sp>
      <p:sp>
        <p:nvSpPr>
          <p:cNvPr id="56" name="Text 42"/>
          <p:cNvSpPr txBox="1"/>
          <p:nvPr/>
        </p:nvSpPr>
        <p:spPr>
          <a:xfrm>
            <a:off x="11385194" y="38405"/>
            <a:ext cx="5056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-150" kern="0" dirty="0">
                <a:solidFill>
                  <a:srgbClr val="F1F5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2026-03-10T06:28:41Z</dcterms:created>
  <dcterms:modified xsi:type="dcterms:W3CDTF">2026-03-10T06:28:41Z</dcterms:modified>
</cp:coreProperties>
</file>